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Gill Sans"/>
      <p:regular r:id="rId8"/>
      <p:bold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0" roundtripDataSignature="AMtx7mjWs7gHGaHpX5P7AN/46gE4//ZO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customschemas.google.com/relationships/presentationmetadata" Target="metadata"/><Relationship Id="rId9" Type="http://schemas.openxmlformats.org/officeDocument/2006/relationships/font" Target="fonts/Gill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Gill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ill San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4c91df5948_4_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g34c91df5948_4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4c91df5948_4_93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ill Sans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4c91df5948_4_1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4c91df5948_4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4c91df5948_4_112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ill Sans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8"/>
          <p:cNvSpPr txBox="1"/>
          <p:nvPr>
            <p:ph type="title"/>
          </p:nvPr>
        </p:nvSpPr>
        <p:spPr>
          <a:xfrm>
            <a:off x="1465262" y="241697"/>
            <a:ext cx="73581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35700" lIns="35700" spcFirstLastPara="1" rIns="35700" wrap="square" tIns="3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"/>
          <p:cNvSpPr txBox="1"/>
          <p:nvPr>
            <p:ph idx="1" type="body"/>
          </p:nvPr>
        </p:nvSpPr>
        <p:spPr>
          <a:xfrm>
            <a:off x="893762" y="2652713"/>
            <a:ext cx="73581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700" lIns="35700" spcFirstLastPara="1" rIns="35700" wrap="square" tIns="357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9"/>
          <p:cNvSpPr txBox="1"/>
          <p:nvPr>
            <p:ph type="title"/>
          </p:nvPr>
        </p:nvSpPr>
        <p:spPr>
          <a:xfrm rot="5400000">
            <a:off x="8181900" y="1066875"/>
            <a:ext cx="428640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b" bIns="35700" lIns="35700" spcFirstLastPara="1" rIns="35700" wrap="square" tIns="3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9"/>
          <p:cNvSpPr txBox="1"/>
          <p:nvPr>
            <p:ph idx="1" type="body"/>
          </p:nvPr>
        </p:nvSpPr>
        <p:spPr>
          <a:xfrm rot="5400000">
            <a:off x="2466900" y="-1676325"/>
            <a:ext cx="4286400" cy="83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700" lIns="35700" spcFirstLastPara="1" rIns="35700" wrap="square" tIns="357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0"/>
          <p:cNvSpPr txBox="1"/>
          <p:nvPr>
            <p:ph type="title"/>
          </p:nvPr>
        </p:nvSpPr>
        <p:spPr>
          <a:xfrm>
            <a:off x="1465262" y="241697"/>
            <a:ext cx="73581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35700" lIns="35700" spcFirstLastPara="1" rIns="35700" wrap="square" tIns="3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" type="body"/>
          </p:nvPr>
        </p:nvSpPr>
        <p:spPr>
          <a:xfrm rot="5400000">
            <a:off x="4275174" y="-728737"/>
            <a:ext cx="595200" cy="73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700" lIns="35700" spcFirstLastPara="1" rIns="35700" wrap="square" tIns="357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1"/>
          <p:cNvSpPr txBox="1"/>
          <p:nvPr>
            <p:ph type="title"/>
          </p:nvPr>
        </p:nvSpPr>
        <p:spPr>
          <a:xfrm>
            <a:off x="2549525" y="5120879"/>
            <a:ext cx="78027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35700" lIns="35700" spcFirstLastPara="1" rIns="35700" wrap="square" tIns="3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1"/>
          <p:cNvSpPr/>
          <p:nvPr>
            <p:ph idx="2" type="pic"/>
          </p:nvPr>
        </p:nvSpPr>
        <p:spPr>
          <a:xfrm>
            <a:off x="2549525" y="653654"/>
            <a:ext cx="7802700" cy="4388700"/>
          </a:xfrm>
          <a:prstGeom prst="rect">
            <a:avLst/>
          </a:prstGeom>
          <a:noFill/>
          <a:ln>
            <a:noFill/>
          </a:ln>
        </p:spPr>
      </p:sp>
      <p:sp>
        <p:nvSpPr>
          <p:cNvPr id="25" name="Google Shape;25;p11"/>
          <p:cNvSpPr txBox="1"/>
          <p:nvPr>
            <p:ph idx="1" type="body"/>
          </p:nvPr>
        </p:nvSpPr>
        <p:spPr>
          <a:xfrm>
            <a:off x="2549525" y="5725716"/>
            <a:ext cx="7802700" cy="8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700" lIns="35700" spcFirstLastPara="1" rIns="35700" wrap="square" tIns="357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ill Sans"/>
              <a:buNone/>
              <a:defRPr sz="1400"/>
            </a:lvl1pPr>
            <a:lvl2pPr indent="-2286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ill Sans"/>
              <a:buNone/>
              <a:defRPr sz="1200"/>
            </a:lvl2pPr>
            <a:lvl3pPr indent="-2286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ill Sans"/>
              <a:buNone/>
              <a:defRPr sz="1000"/>
            </a:lvl3pPr>
            <a:lvl4pPr indent="-2286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ill Sans"/>
              <a:buNone/>
              <a:defRPr sz="900"/>
            </a:lvl4pPr>
            <a:lvl5pPr indent="-2286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ill Sans"/>
              <a:buNone/>
              <a:defRPr sz="900"/>
            </a:lvl5pPr>
            <a:lvl6pPr indent="-22860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ill Sans"/>
              <a:buNone/>
              <a:defRPr sz="900"/>
            </a:lvl6pPr>
            <a:lvl7pPr indent="-22860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ill Sans"/>
              <a:buNone/>
              <a:defRPr sz="900"/>
            </a:lvl7pPr>
            <a:lvl8pPr indent="-22860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ill Sans"/>
              <a:buNone/>
              <a:defRPr sz="900"/>
            </a:lvl8pPr>
            <a:lvl9pPr indent="-22860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ill Sans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2"/>
          <p:cNvSpPr txBox="1"/>
          <p:nvPr>
            <p:ph type="title"/>
          </p:nvPr>
        </p:nvSpPr>
        <p:spPr>
          <a:xfrm>
            <a:off x="650875" y="291704"/>
            <a:ext cx="4278300" cy="123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5700" lIns="35700" spcFirstLastPara="1" rIns="35700" wrap="square" tIns="3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" type="body"/>
          </p:nvPr>
        </p:nvSpPr>
        <p:spPr>
          <a:xfrm>
            <a:off x="5084763" y="291704"/>
            <a:ext cx="7269300" cy="6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700" lIns="35700" spcFirstLastPara="1" rIns="35700" wrap="square" tIns="357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indent="-228600" lvl="1" marL="9144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2pPr>
            <a:lvl3pPr indent="-228600" lvl="2" marL="13716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3pPr>
            <a:lvl4pPr indent="-228600" lvl="3" marL="18288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4pPr>
            <a:lvl5pPr indent="-228600" lvl="4" marL="22860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5pPr>
            <a:lvl6pPr indent="-228600" lvl="5" marL="2743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6pPr>
            <a:lvl7pPr indent="-228600" lvl="6" marL="32004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7pPr>
            <a:lvl8pPr indent="-228600" lvl="7" marL="36576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8pPr>
            <a:lvl9pPr indent="-228600" lvl="8" marL="41148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/>
        </p:txBody>
      </p:sp>
      <p:sp>
        <p:nvSpPr>
          <p:cNvPr id="29" name="Google Shape;29;p12"/>
          <p:cNvSpPr txBox="1"/>
          <p:nvPr>
            <p:ph idx="2" type="body"/>
          </p:nvPr>
        </p:nvSpPr>
        <p:spPr>
          <a:xfrm>
            <a:off x="650875" y="1531144"/>
            <a:ext cx="4278300" cy="50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700" lIns="35700" spcFirstLastPara="1" rIns="35700" wrap="square" tIns="357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ill Sans"/>
              <a:buNone/>
              <a:defRPr sz="1400"/>
            </a:lvl1pPr>
            <a:lvl2pPr indent="-2286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ill Sans"/>
              <a:buNone/>
              <a:defRPr sz="1200"/>
            </a:lvl2pPr>
            <a:lvl3pPr indent="-2286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ill Sans"/>
              <a:buNone/>
              <a:defRPr sz="1000"/>
            </a:lvl3pPr>
            <a:lvl4pPr indent="-2286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ill Sans"/>
              <a:buNone/>
              <a:defRPr sz="900"/>
            </a:lvl4pPr>
            <a:lvl5pPr indent="-2286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ill Sans"/>
              <a:buNone/>
              <a:defRPr sz="900"/>
            </a:lvl5pPr>
            <a:lvl6pPr indent="-22860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ill Sans"/>
              <a:buNone/>
              <a:defRPr sz="900"/>
            </a:lvl6pPr>
            <a:lvl7pPr indent="-22860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ill Sans"/>
              <a:buNone/>
              <a:defRPr sz="900"/>
            </a:lvl7pPr>
            <a:lvl8pPr indent="-22860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ill Sans"/>
              <a:buNone/>
              <a:defRPr sz="900"/>
            </a:lvl8pPr>
            <a:lvl9pPr indent="-22860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ill Sans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/>
          <p:nvPr>
            <p:ph type="title"/>
          </p:nvPr>
        </p:nvSpPr>
        <p:spPr>
          <a:xfrm>
            <a:off x="1465262" y="241697"/>
            <a:ext cx="73581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35700" lIns="35700" spcFirstLastPara="1" rIns="35700" wrap="square" tIns="3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650875" y="292894"/>
            <a:ext cx="11703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700" lIns="35700" spcFirstLastPara="1" rIns="35700" wrap="square" tIns="3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650875" y="1637110"/>
            <a:ext cx="57453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700" lIns="35700" spcFirstLastPara="1" rIns="35700" wrap="square" tIns="357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None/>
              <a:defRPr b="1" sz="2400"/>
            </a:lvl1pPr>
            <a:lvl2pPr indent="-2286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ill Sans"/>
              <a:buNone/>
              <a:defRPr b="1" sz="2000"/>
            </a:lvl2pPr>
            <a:lvl3pPr indent="-2286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  <a:defRPr b="1" sz="1800"/>
            </a:lvl3pPr>
            <a:lvl4pPr indent="-2286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None/>
              <a:defRPr b="1" sz="1600"/>
            </a:lvl4pPr>
            <a:lvl5pPr indent="-2286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None/>
              <a:defRPr b="1" sz="1600"/>
            </a:lvl5pPr>
            <a:lvl6pPr indent="-22860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None/>
              <a:defRPr b="1" sz="1600"/>
            </a:lvl6pPr>
            <a:lvl7pPr indent="-22860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None/>
              <a:defRPr b="1" sz="1600"/>
            </a:lvl7pPr>
            <a:lvl8pPr indent="-22860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None/>
              <a:defRPr b="1" sz="1600"/>
            </a:lvl8pPr>
            <a:lvl9pPr indent="-22860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None/>
              <a:defRPr b="1" sz="16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650875" y="2319338"/>
            <a:ext cx="5745300" cy="42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700" lIns="35700" spcFirstLastPara="1" rIns="35700" wrap="square" tIns="357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indent="-228600" lvl="1" marL="9144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2pPr>
            <a:lvl3pPr indent="-228600" lvl="2" marL="13716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indent="-228600" lvl="4" marL="22860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indent="-228600" lvl="5" marL="2743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indent="-228600" lvl="6" marL="32004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indent="-228600" lvl="7" marL="36576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indent="-228600" lvl="8" marL="41148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37" name="Google Shape;37;p15"/>
          <p:cNvSpPr txBox="1"/>
          <p:nvPr>
            <p:ph idx="3" type="body"/>
          </p:nvPr>
        </p:nvSpPr>
        <p:spPr>
          <a:xfrm>
            <a:off x="6605588" y="1637110"/>
            <a:ext cx="57483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700" lIns="35700" spcFirstLastPara="1" rIns="35700" wrap="square" tIns="357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None/>
              <a:defRPr b="1" sz="2400"/>
            </a:lvl1pPr>
            <a:lvl2pPr indent="-2286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ill Sans"/>
              <a:buNone/>
              <a:defRPr b="1" sz="2000"/>
            </a:lvl2pPr>
            <a:lvl3pPr indent="-2286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  <a:defRPr b="1" sz="1800"/>
            </a:lvl3pPr>
            <a:lvl4pPr indent="-2286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None/>
              <a:defRPr b="1" sz="1600"/>
            </a:lvl4pPr>
            <a:lvl5pPr indent="-2286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None/>
              <a:defRPr b="1" sz="1600"/>
            </a:lvl5pPr>
            <a:lvl6pPr indent="-22860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None/>
              <a:defRPr b="1" sz="1600"/>
            </a:lvl6pPr>
            <a:lvl7pPr indent="-22860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None/>
              <a:defRPr b="1" sz="1600"/>
            </a:lvl7pPr>
            <a:lvl8pPr indent="-22860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None/>
              <a:defRPr b="1" sz="1600"/>
            </a:lvl8pPr>
            <a:lvl9pPr indent="-22860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None/>
              <a:defRPr b="1" sz="1600"/>
            </a:lvl9pPr>
          </a:lstStyle>
          <a:p/>
        </p:txBody>
      </p:sp>
      <p:sp>
        <p:nvSpPr>
          <p:cNvPr id="38" name="Google Shape;38;p15"/>
          <p:cNvSpPr txBox="1"/>
          <p:nvPr>
            <p:ph idx="4" type="body"/>
          </p:nvPr>
        </p:nvSpPr>
        <p:spPr>
          <a:xfrm>
            <a:off x="6605588" y="2319338"/>
            <a:ext cx="5748300" cy="42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700" lIns="35700" spcFirstLastPara="1" rIns="35700" wrap="square" tIns="357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indent="-228600" lvl="1" marL="9144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2pPr>
            <a:lvl3pPr indent="-228600" lvl="2" marL="13716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indent="-228600" lvl="4" marL="22860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indent="-228600" lvl="5" marL="2743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indent="-228600" lvl="6" marL="32004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indent="-228600" lvl="7" marL="36576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indent="-228600" lvl="8" marL="41148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6"/>
          <p:cNvSpPr txBox="1"/>
          <p:nvPr>
            <p:ph type="title"/>
          </p:nvPr>
        </p:nvSpPr>
        <p:spPr>
          <a:xfrm>
            <a:off x="2082800" y="342900"/>
            <a:ext cx="104649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700" lIns="35700" spcFirstLastPara="1" rIns="35700" wrap="square" tIns="3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6262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6"/>
          <p:cNvSpPr txBox="1"/>
          <p:nvPr>
            <p:ph idx="1" type="body"/>
          </p:nvPr>
        </p:nvSpPr>
        <p:spPr>
          <a:xfrm>
            <a:off x="1270000" y="3771900"/>
            <a:ext cx="5156100" cy="8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700" lIns="35700" spcFirstLastPara="1" rIns="35700" wrap="square" tIns="357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1pPr>
            <a:lvl2pPr indent="-228600" lvl="1" marL="9144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2pPr>
            <a:lvl3pPr indent="-228600" lvl="2" marL="13716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3pPr>
            <a:lvl4pPr indent="-228600" lvl="3" marL="18288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2" name="Google Shape;42;p16"/>
          <p:cNvSpPr txBox="1"/>
          <p:nvPr>
            <p:ph idx="2" type="body"/>
          </p:nvPr>
        </p:nvSpPr>
        <p:spPr>
          <a:xfrm>
            <a:off x="6578600" y="3771900"/>
            <a:ext cx="5156100" cy="8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700" lIns="35700" spcFirstLastPara="1" rIns="35700" wrap="square" tIns="357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1pPr>
            <a:lvl2pPr indent="-228600" lvl="1" marL="9144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2pPr>
            <a:lvl3pPr indent="-228600" lvl="2" marL="13716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3pPr>
            <a:lvl4pPr indent="-228600" lvl="3" marL="18288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7"/>
          <p:cNvSpPr txBox="1"/>
          <p:nvPr>
            <p:ph type="title"/>
          </p:nvPr>
        </p:nvSpPr>
        <p:spPr>
          <a:xfrm>
            <a:off x="1027113" y="4700588"/>
            <a:ext cx="11053800" cy="14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700" lIns="35700" spcFirstLastPara="1" rIns="35700" wrap="square" tIns="3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" type="body"/>
          </p:nvPr>
        </p:nvSpPr>
        <p:spPr>
          <a:xfrm>
            <a:off x="1027113" y="3100388"/>
            <a:ext cx="11053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700" lIns="35700" spcFirstLastPara="1" rIns="35700" wrap="square" tIns="357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ill Sans"/>
              <a:buNone/>
              <a:defRPr sz="2000"/>
            </a:lvl1pPr>
            <a:lvl2pPr indent="-2286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  <a:defRPr sz="1800"/>
            </a:lvl2pPr>
            <a:lvl3pPr indent="-2286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None/>
              <a:defRPr sz="1600"/>
            </a:lvl3pPr>
            <a:lvl4pPr indent="-2286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ill Sans"/>
              <a:buNone/>
              <a:defRPr sz="1400"/>
            </a:lvl4pPr>
            <a:lvl5pPr indent="-2286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ill Sans"/>
              <a:buNone/>
              <a:defRPr sz="1400"/>
            </a:lvl5pPr>
            <a:lvl6pPr indent="-22860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ill Sans"/>
              <a:buNone/>
              <a:defRPr sz="1400"/>
            </a:lvl6pPr>
            <a:lvl7pPr indent="-22860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ill Sans"/>
              <a:buNone/>
              <a:defRPr sz="1400"/>
            </a:lvl7pPr>
            <a:lvl8pPr indent="-22860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ill Sans"/>
              <a:buNone/>
              <a:defRPr sz="1400"/>
            </a:lvl8pPr>
            <a:lvl9pPr indent="-22860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ill Sans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8"/>
          <p:cNvSpPr txBox="1"/>
          <p:nvPr>
            <p:ph type="ctrTitle"/>
          </p:nvPr>
        </p:nvSpPr>
        <p:spPr>
          <a:xfrm>
            <a:off x="974725" y="2272903"/>
            <a:ext cx="110553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b" bIns="35700" lIns="35700" spcFirstLastPara="1" rIns="35700" wrap="square" tIns="3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" type="subTitle"/>
          </p:nvPr>
        </p:nvSpPr>
        <p:spPr>
          <a:xfrm>
            <a:off x="1951038" y="4145756"/>
            <a:ext cx="9102600" cy="18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700" lIns="35700" spcFirstLastPara="1" rIns="35700" wrap="square" tIns="3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Gill Sans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Gill Sans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Gill Sans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Gill Sans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Gill Sans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idx="1" type="body"/>
          </p:nvPr>
        </p:nvSpPr>
        <p:spPr>
          <a:xfrm>
            <a:off x="893762" y="2652713"/>
            <a:ext cx="73581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700" lIns="35700" spcFirstLastPara="1" rIns="35700" wrap="square" tIns="35700">
            <a:noAutofit/>
          </a:bodyPr>
          <a:lstStyle>
            <a:lvl1pPr indent="-228600" lvl="0" marL="4572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228600" lvl="2" marL="13716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28600" lvl="3" marL="18288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28600" lvl="4" marL="22860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28600" lvl="5" marL="27432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28600" lvl="6" marL="32004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28600" lvl="7" marL="36576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28600" lvl="8" marL="41148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1" name="Google Shape;11;p7"/>
          <p:cNvSpPr txBox="1"/>
          <p:nvPr>
            <p:ph type="title"/>
          </p:nvPr>
        </p:nvSpPr>
        <p:spPr>
          <a:xfrm>
            <a:off x="1465262" y="241697"/>
            <a:ext cx="73581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35700" lIns="35700" spcFirstLastPara="1" rIns="35700" wrap="square" tIns="3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FEFCFC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FEFCFC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FEFCFC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FEFCFC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2" name="Google Shape;12;p7"/>
          <p:cNvSpPr txBox="1"/>
          <p:nvPr/>
        </p:nvSpPr>
        <p:spPr>
          <a:xfrm>
            <a:off x="5768975" y="4902994"/>
            <a:ext cx="33750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2125" lIns="64275" spcFirstLastPara="1" rIns="64275" wrap="square" tIns="321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Verdana"/>
              <a:buNone/>
            </a:pPr>
            <a:r>
              <a:rPr b="0" i="0" lang="en-US" sz="1300" u="none" cap="none" strike="noStrike">
                <a:solidFill>
                  <a:srgbClr val="404040"/>
                </a:solidFill>
                <a:latin typeface="Verdana"/>
                <a:ea typeface="Verdana"/>
                <a:cs typeface="Verdana"/>
                <a:sym typeface="Verdana"/>
              </a:rPr>
              <a:t>More info: boardofinnovation.com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4c91df5948_4_93"/>
          <p:cNvSpPr/>
          <p:nvPr/>
        </p:nvSpPr>
        <p:spPr>
          <a:xfrm>
            <a:off x="5960400" y="4896488"/>
            <a:ext cx="3035100" cy="246900"/>
          </a:xfrm>
          <a:prstGeom prst="rect">
            <a:avLst/>
          </a:prstGeom>
          <a:solidFill>
            <a:srgbClr val="F1F0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5" name="Google Shape;55;g34c91df5948_4_93"/>
          <p:cNvSpPr txBox="1"/>
          <p:nvPr/>
        </p:nvSpPr>
        <p:spPr>
          <a:xfrm>
            <a:off x="140825" y="811694"/>
            <a:ext cx="1499100" cy="24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 </a:t>
            </a:r>
            <a:r>
              <a:rPr lang="en-US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Municipalities &amp; Public Authorities</a:t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 </a:t>
            </a:r>
            <a:r>
              <a:rPr lang="en-US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Accessibility Advocacy Organizations &amp; NPOs</a:t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 </a:t>
            </a:r>
            <a:r>
              <a:rPr lang="en-US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Smart City Technology Integrators</a:t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 </a:t>
            </a:r>
            <a:r>
              <a:rPr lang="en-US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Local Businesses &amp; Associations</a:t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 </a:t>
            </a:r>
            <a:r>
              <a:rPr lang="en-US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Universities &amp; Research Institutions</a:t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 </a:t>
            </a:r>
            <a:r>
              <a:rPr lang="en-US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Tourism Agencies &amp; Accessible Travel Initiatives</a:t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6" name="Google Shape;56;g34c91df5948_4_93"/>
          <p:cNvSpPr txBox="1"/>
          <p:nvPr/>
        </p:nvSpPr>
        <p:spPr>
          <a:xfrm>
            <a:off x="1639925" y="776850"/>
            <a:ext cx="2120400" cy="11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• Platform Development &amp; Maintenance</a:t>
            </a:r>
            <a:endParaRPr sz="9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• Real-Time Accessibility Reporting</a:t>
            </a:r>
            <a:endParaRPr sz="9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• Crowdsourcing Community Engagement</a:t>
            </a:r>
            <a:endParaRPr sz="9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• Data Analysis</a:t>
            </a:r>
            <a:endParaRPr sz="9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• Partnerships &amp; Collaborations</a:t>
            </a:r>
            <a:endParaRPr sz="9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• Marketing Campaigns</a:t>
            </a:r>
            <a:endParaRPr sz="9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7" name="Google Shape;57;g34c91df5948_4_93"/>
          <p:cNvSpPr txBox="1"/>
          <p:nvPr/>
        </p:nvSpPr>
        <p:spPr>
          <a:xfrm>
            <a:off x="1739313" y="2254931"/>
            <a:ext cx="1822200" cy="10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 </a:t>
            </a:r>
            <a:r>
              <a:rPr lang="en-US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Technological</a:t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Infrastructure</a:t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 </a:t>
            </a:r>
            <a:r>
              <a:rPr lang="en-US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Database</a:t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 </a:t>
            </a:r>
            <a:r>
              <a:rPr lang="en-US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Financial Resources</a:t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 </a:t>
            </a:r>
            <a:r>
              <a:rPr lang="en-US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Human Capital.</a:t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8" name="Google Shape;58;g34c91df5948_4_93"/>
          <p:cNvSpPr txBox="1"/>
          <p:nvPr/>
        </p:nvSpPr>
        <p:spPr>
          <a:xfrm>
            <a:off x="3660925" y="898675"/>
            <a:ext cx="1725600" cy="24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 </a:t>
            </a:r>
            <a:r>
              <a:rPr lang="en-US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Real-Time Accessibility Mapping</a:t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 </a:t>
            </a:r>
            <a:r>
              <a:rPr lang="en-US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Crowdsourced &amp; AI-Enhanced Data</a:t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 </a:t>
            </a:r>
            <a:r>
              <a:rPr lang="en-US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Customizable UI/UX &amp; Voice Commands</a:t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 </a:t>
            </a:r>
            <a:r>
              <a:rPr lang="en-US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Personalized Accessible Routes</a:t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 </a:t>
            </a:r>
            <a:r>
              <a:rPr lang="en-US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City Dashboard for Municipalities</a:t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 </a:t>
            </a:r>
            <a:r>
              <a:rPr lang="en-US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Dynamic Updates &amp; Alerts</a:t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 </a:t>
            </a:r>
            <a:r>
              <a:rPr lang="en-US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Enhanced Independence &amp; Mobility</a:t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9" name="Google Shape;59;g34c91df5948_4_93"/>
          <p:cNvSpPr txBox="1"/>
          <p:nvPr/>
        </p:nvSpPr>
        <p:spPr>
          <a:xfrm>
            <a:off x="5386500" y="960788"/>
            <a:ext cx="1822200" cy="10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 </a:t>
            </a:r>
            <a:r>
              <a:rPr lang="en-US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Crowdsourcing communities</a:t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 </a:t>
            </a:r>
            <a:r>
              <a:rPr lang="en-US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Partnerships with communities &amp; organizations</a:t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0" name="Google Shape;60;g34c91df5948_4_93"/>
          <p:cNvSpPr txBox="1"/>
          <p:nvPr/>
        </p:nvSpPr>
        <p:spPr>
          <a:xfrm>
            <a:off x="7305275" y="940069"/>
            <a:ext cx="1629000" cy="23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 </a:t>
            </a:r>
            <a:r>
              <a:rPr lang="en-US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People with mobility difficulties</a:t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 </a:t>
            </a:r>
            <a:r>
              <a:rPr lang="en-US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Temporarily injured individuals</a:t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 </a:t>
            </a:r>
            <a:r>
              <a:rPr lang="en-US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Elderly people</a:t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 </a:t>
            </a:r>
            <a:r>
              <a:rPr lang="en-US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Parents with strollers</a:t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 </a:t>
            </a:r>
            <a:r>
              <a:rPr lang="en-US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Businesses</a:t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 </a:t>
            </a:r>
            <a:r>
              <a:rPr lang="en-US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Municipalities</a:t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1" name="Google Shape;61;g34c91df5948_4_93"/>
          <p:cNvSpPr txBox="1"/>
          <p:nvPr/>
        </p:nvSpPr>
        <p:spPr>
          <a:xfrm>
            <a:off x="196600" y="3569794"/>
            <a:ext cx="4196100" cy="11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 </a:t>
            </a:r>
            <a:r>
              <a:rPr lang="en-US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Software Development &amp; Maintenance</a:t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 </a:t>
            </a:r>
            <a:r>
              <a:rPr lang="en-US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Technological Infrastructure</a:t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 </a:t>
            </a:r>
            <a:r>
              <a:rPr lang="en-US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Staff Salaries</a:t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 </a:t>
            </a:r>
            <a:r>
              <a:rPr lang="en-US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Marketing &amp; Advertising</a:t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 </a:t>
            </a:r>
            <a:r>
              <a:rPr lang="en-US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Legal &amp; Accounting Expenses</a:t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" name="Google Shape;62;g34c91df5948_4_93"/>
          <p:cNvSpPr txBox="1"/>
          <p:nvPr/>
        </p:nvSpPr>
        <p:spPr>
          <a:xfrm>
            <a:off x="4572000" y="3653025"/>
            <a:ext cx="4362300" cy="11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 </a:t>
            </a:r>
            <a:r>
              <a:rPr lang="en-US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Municipality Subscriptions</a:t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 </a:t>
            </a:r>
            <a:r>
              <a:rPr lang="en-US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Business subscriptions for Premium Advertising</a:t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 </a:t>
            </a:r>
            <a:r>
              <a:rPr lang="en-US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EU programs and grants</a:t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3" name="Google Shape;63;g34c91df5948_4_93"/>
          <p:cNvSpPr txBox="1"/>
          <p:nvPr/>
        </p:nvSpPr>
        <p:spPr>
          <a:xfrm>
            <a:off x="5407200" y="2209100"/>
            <a:ext cx="1780800" cy="10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 </a:t>
            </a:r>
            <a:r>
              <a:rPr lang="en-US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Mobile App (Android &amp; iOS)</a:t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 </a:t>
            </a:r>
            <a:r>
              <a:rPr lang="en-US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Web App</a:t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 </a:t>
            </a:r>
            <a:r>
              <a:rPr lang="en-US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Social Media &amp; Digital </a:t>
            </a:r>
            <a:r>
              <a:rPr lang="en-US" sz="11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 </a:t>
            </a:r>
            <a:r>
              <a:rPr lang="en-US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Marketing</a:t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 </a:t>
            </a:r>
            <a:r>
              <a:rPr lang="en-US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Partnerships</a:t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4c91df5948_4_112"/>
          <p:cNvSpPr/>
          <p:nvPr/>
        </p:nvSpPr>
        <p:spPr>
          <a:xfrm>
            <a:off x="5962900" y="4835575"/>
            <a:ext cx="3027000" cy="307800"/>
          </a:xfrm>
          <a:prstGeom prst="rect">
            <a:avLst/>
          </a:prstGeom>
          <a:solidFill>
            <a:srgbClr val="F1F0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0" name="Google Shape;70;g34c91df5948_4_112"/>
          <p:cNvSpPr/>
          <p:nvPr/>
        </p:nvSpPr>
        <p:spPr>
          <a:xfrm>
            <a:off x="713700" y="678825"/>
            <a:ext cx="7700400" cy="4400400"/>
          </a:xfrm>
          <a:prstGeom prst="rect">
            <a:avLst/>
          </a:prstGeom>
          <a:solidFill>
            <a:srgbClr val="F1F0EE"/>
          </a:solidFill>
          <a:ln cap="flat" cmpd="sng" w="9525">
            <a:solidFill>
              <a:srgbClr val="F1F0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71" name="Google Shape;71;g34c91df5948_4_112" title="Business model kit (1)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7450" y="499225"/>
            <a:ext cx="5026977" cy="464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itle &amp; Subtitle">
  <a:themeElements>
    <a:clrScheme name="Title &amp; Subtitl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2010-08-26T19:09:23Z</dcterms:created>
  <dc:creator>Angie</dc:creator>
</cp:coreProperties>
</file>